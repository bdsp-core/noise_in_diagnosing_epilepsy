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"/>
  </p:notesMasterIdLst>
  <p:sldIdLst>
    <p:sldId id="257" r:id="rId2"/>
    <p:sldId id="258" r:id="rId3"/>
    <p:sldId id="273" r:id="rId4"/>
    <p:sldId id="276" r:id="rId5"/>
    <p:sldId id="275" r:id="rId6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0000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83217" autoAdjust="0"/>
  </p:normalViewPr>
  <p:slideViewPr>
    <p:cSldViewPr snapToGrid="0">
      <p:cViewPr>
        <p:scale>
          <a:sx n="76" d="100"/>
          <a:sy n="76" d="100"/>
        </p:scale>
        <p:origin x="248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9DAF60-0342-4F3A-AE7C-103AF514B51C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A8923-2559-4AE4-90F7-B65C37659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72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Figure 4: The “Latent trait” framework for analyzing level of expertise in spike detection, with (A) the schematic of our framework for measuring a scorer’s level of expertise in recognizing epileptiform discharges; and (B) simulation of the decision process for the ideal observer (top row) and each scorer. </a:t>
            </a:r>
          </a:p>
          <a:p>
            <a:endParaRPr lang="en-US" dirty="0"/>
          </a:p>
          <a:p>
            <a:r>
              <a:rPr lang="en-US" dirty="0"/>
              <a:t>Need to label the different rows to say below ideal are experts then experienced then novices</a:t>
            </a:r>
          </a:p>
          <a:p>
            <a:r>
              <a:rPr lang="en-US" dirty="0"/>
              <a:t>-----------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Figure 3: The “Latent trait” framework for analyzing level of expertise in spike detection, with (A) the schematic of our framework for measuring a scorer’s level of expertise in recognizing epileptiform discharges; and (B) simulation of the decision process for the ideal observer (top row) and each scorer.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A8923-2559-4AE4-90F7-B65C37659E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78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Figure 5: Estimation of scorer’s internal parameters (A) the internal noise levels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200" dirty="0"/>
                  <a:t> and threshold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200" dirty="0"/>
                  <a:t> for experts (blue), experienced non-experts (green), and novices (red). (B) Updated ROC curves based on internal parameter estimated, with the group average expert ROC curve in blue curve, experienced non-experts in green, and for novices in red.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dirty="0"/>
                  <a:t>Figure 5: Estimation of scorer’s internal parameters (A) the internal noise levels and </a:t>
                </a:r>
                <a:r>
                  <a:rPr lang="en-US" sz="1200" b="0" i="0">
                    <a:latin typeface="Cambria Math" panose="02040503050406030204" pitchFamily="18" charset="0"/>
                  </a:rPr>
                  <a:t>𝜎</a:t>
                </a:r>
                <a:r>
                  <a:rPr lang="en-US" sz="1200" dirty="0"/>
                  <a:t> and threshold </a:t>
                </a:r>
                <a:r>
                  <a:rPr lang="en-US" sz="1200" i="0">
                    <a:latin typeface="Cambria Math" panose="02040503050406030204" pitchFamily="18" charset="0"/>
                  </a:rPr>
                  <a:t>𝜃</a:t>
                </a:r>
                <a:r>
                  <a:rPr lang="en-US" sz="1200" dirty="0"/>
                  <a:t> for experts (blue), experienced non-experts (green), and novices (red). (B) Updated ROC curves based on internal parameter estimated, with the group average expert ROC curve in blue curve, experienced non-experts in green, and for novices in red. 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A8923-2559-4AE4-90F7-B65C37659E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65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A8923-2559-4AE4-90F7-B65C37659E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00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6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8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207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8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5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7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318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82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486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8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71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5DBBE-E3FD-484D-AAAA-0AA7AEBD325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FA93F7-4E32-4A6D-AE23-39F56BCB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8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10" Type="http://schemas.openxmlformats.org/officeDocument/2006/relationships/image" Target="../media/image5.emf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0018E5-CE52-4CBF-88D3-7CED1B9448AD}"/>
              </a:ext>
            </a:extLst>
          </p:cNvPr>
          <p:cNvGrpSpPr/>
          <p:nvPr/>
        </p:nvGrpSpPr>
        <p:grpSpPr>
          <a:xfrm>
            <a:off x="1239127" y="376095"/>
            <a:ext cx="5354303" cy="1478694"/>
            <a:chOff x="685108" y="3312596"/>
            <a:chExt cx="5354303" cy="1478694"/>
          </a:xfrm>
        </p:grpSpPr>
        <p:pic>
          <p:nvPicPr>
            <p:cNvPr id="28" name="Picture 2" descr="Healthy Human Eye Icon, Outline Style Stock Vector - Illustration of  medical, colorless: 136952546">
              <a:extLst>
                <a:ext uri="{FF2B5EF4-FFF2-40B4-BE49-F238E27FC236}">
                  <a16:creationId xmlns:a16="http://schemas.microsoft.com/office/drawing/2014/main" id="{90AA6952-75B4-46C7-93C8-F8BF814F563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3" t="11337" b="15519"/>
            <a:stretch/>
          </p:blipFill>
          <p:spPr bwMode="auto">
            <a:xfrm flipH="1">
              <a:off x="2415972" y="3666807"/>
              <a:ext cx="383060" cy="305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75BEFDD-0736-41DC-AAC8-5C8C5DF2D210}"/>
                </a:ext>
              </a:extLst>
            </p:cNvPr>
            <p:cNvSpPr txBox="1"/>
            <p:nvPr/>
          </p:nvSpPr>
          <p:spPr>
            <a:xfrm>
              <a:off x="1015540" y="3602244"/>
              <a:ext cx="923651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evidence</a:t>
              </a:r>
            </a:p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as seen by</a:t>
              </a:r>
            </a:p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ideal observer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03873819-E7A3-406D-83A8-BB068BF1428A}"/>
                </a:ext>
              </a:extLst>
            </p:cNvPr>
            <p:cNvCxnSpPr>
              <a:cxnSpLocks/>
            </p:cNvCxnSpPr>
            <p:nvPr/>
          </p:nvCxnSpPr>
          <p:spPr>
            <a:xfrm>
              <a:off x="1868451" y="3831648"/>
              <a:ext cx="47378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39E10F5-F0EE-4D06-846D-5FE10A6197A2}"/>
                </a:ext>
              </a:extLst>
            </p:cNvPr>
            <p:cNvSpPr txBox="1"/>
            <p:nvPr/>
          </p:nvSpPr>
          <p:spPr>
            <a:xfrm>
              <a:off x="2247279" y="4237292"/>
              <a:ext cx="803425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observation</a:t>
              </a:r>
            </a:p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noise /</a:t>
              </a:r>
            </a:p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Uncertainty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1945927-D93E-4EE7-92D0-526DB7635D29}"/>
                </a:ext>
              </a:extLst>
            </p:cNvPr>
            <p:cNvCxnSpPr>
              <a:cxnSpLocks/>
              <a:stCxn id="33" idx="0"/>
            </p:cNvCxnSpPr>
            <p:nvPr/>
          </p:nvCxnSpPr>
          <p:spPr>
            <a:xfrm flipV="1">
              <a:off x="2648992" y="4007888"/>
              <a:ext cx="0" cy="2294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BDA5DB3-FCD2-4A65-BB24-C37379DE22BC}"/>
                </a:ext>
              </a:extLst>
            </p:cNvPr>
            <p:cNvCxnSpPr>
              <a:cxnSpLocks/>
            </p:cNvCxnSpPr>
            <p:nvPr/>
          </p:nvCxnSpPr>
          <p:spPr>
            <a:xfrm>
              <a:off x="685108" y="3830144"/>
              <a:ext cx="47378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058ABF4-E4EA-43CC-869B-409E2F4ADCAB}"/>
                </a:ext>
              </a:extLst>
            </p:cNvPr>
            <p:cNvCxnSpPr>
              <a:cxnSpLocks/>
            </p:cNvCxnSpPr>
            <p:nvPr/>
          </p:nvCxnSpPr>
          <p:spPr>
            <a:xfrm>
              <a:off x="2845065" y="3830144"/>
              <a:ext cx="47378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781B6F3-3D8C-4733-8489-3AF27CEB3135}"/>
                </a:ext>
              </a:extLst>
            </p:cNvPr>
            <p:cNvSpPr txBox="1"/>
            <p:nvPr/>
          </p:nvSpPr>
          <p:spPr>
            <a:xfrm>
              <a:off x="3195605" y="3646919"/>
              <a:ext cx="8034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noisy</a:t>
              </a:r>
            </a:p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observation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F3A073F-DB9C-4A48-8044-DA0C778DCE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7859" y="3559631"/>
              <a:ext cx="573775" cy="20634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11359CE-F02F-4D82-85FD-9B0FB59FCE1A}"/>
                    </a:ext>
                  </a:extLst>
                </p:cNvPr>
                <p:cNvSpPr txBox="1"/>
                <p:nvPr/>
              </p:nvSpPr>
              <p:spPr>
                <a:xfrm>
                  <a:off x="3968379" y="3312596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11359CE-F02F-4D82-85FD-9B0FB59FCE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8379" y="3312596"/>
                  <a:ext cx="41068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4B548E1-6424-4396-B10E-F53D534C39B4}"/>
                    </a:ext>
                  </a:extLst>
                </p:cNvPr>
                <p:cNvSpPr txBox="1"/>
                <p:nvPr/>
              </p:nvSpPr>
              <p:spPr>
                <a:xfrm>
                  <a:off x="3973912" y="3994059"/>
                  <a:ext cx="4106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4B548E1-6424-4396-B10E-F53D534C39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3912" y="3994059"/>
                  <a:ext cx="41069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B9450620-0BF5-4E70-B2BE-0798D45E7C46}"/>
                </a:ext>
              </a:extLst>
            </p:cNvPr>
            <p:cNvCxnSpPr>
              <a:cxnSpLocks/>
            </p:cNvCxnSpPr>
            <p:nvPr/>
          </p:nvCxnSpPr>
          <p:spPr>
            <a:xfrm>
              <a:off x="3949448" y="3881538"/>
              <a:ext cx="575624" cy="23513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24F7D2F-30FF-45C3-A681-EE4B858F44C4}"/>
                </a:ext>
              </a:extLst>
            </p:cNvPr>
            <p:cNvSpPr txBox="1"/>
            <p:nvPr/>
          </p:nvSpPr>
          <p:spPr>
            <a:xfrm>
              <a:off x="3536947" y="4339538"/>
              <a:ext cx="13292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Compare to threshold</a:t>
              </a:r>
            </a:p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(bias)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813404-CC18-4B52-A99E-5525E00B76DD}"/>
                </a:ext>
              </a:extLst>
            </p:cNvPr>
            <p:cNvSpPr txBox="1"/>
            <p:nvPr/>
          </p:nvSpPr>
          <p:spPr>
            <a:xfrm>
              <a:off x="4541811" y="3378009"/>
              <a:ext cx="12433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/>
                <a:t>“spike”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B51EBF6-42DC-45F9-9252-62122503C417}"/>
                </a:ext>
              </a:extLst>
            </p:cNvPr>
            <p:cNvSpPr txBox="1"/>
            <p:nvPr/>
          </p:nvSpPr>
          <p:spPr>
            <a:xfrm>
              <a:off x="4450224" y="3928963"/>
              <a:ext cx="15891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/>
                <a:t>“not spike”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22EC745-C3A7-40A1-AB72-DF28A2730657}"/>
                </a:ext>
              </a:extLst>
            </p:cNvPr>
            <p:cNvSpPr txBox="1"/>
            <p:nvPr/>
          </p:nvSpPr>
          <p:spPr>
            <a:xfrm>
              <a:off x="4977633" y="4340907"/>
              <a:ext cx="6126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00" dirty="0">
                  <a:solidFill>
                    <a:srgbClr val="C00000"/>
                  </a:solidFill>
                </a:rPr>
                <a:t>decision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CD76B1C5-1184-49FC-B580-9251DC93C283}"/>
              </a:ext>
            </a:extLst>
          </p:cNvPr>
          <p:cNvSpPr txBox="1"/>
          <p:nvPr/>
        </p:nvSpPr>
        <p:spPr>
          <a:xfrm>
            <a:off x="233414" y="32074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46252F-59A0-4C84-B8A0-51E1D278A465}"/>
              </a:ext>
            </a:extLst>
          </p:cNvPr>
          <p:cNvSpPr txBox="1"/>
          <p:nvPr/>
        </p:nvSpPr>
        <p:spPr>
          <a:xfrm>
            <a:off x="230919" y="304791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B2F97C4-871C-4646-99CA-5DF5E17415B3}"/>
              </a:ext>
            </a:extLst>
          </p:cNvPr>
          <p:cNvGrpSpPr/>
          <p:nvPr/>
        </p:nvGrpSpPr>
        <p:grpSpPr>
          <a:xfrm>
            <a:off x="2479237" y="1949358"/>
            <a:ext cx="4008829" cy="1290961"/>
            <a:chOff x="2479237" y="1756673"/>
            <a:chExt cx="4008829" cy="1290961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72F6161C-4F42-4C35-AF51-555D3A18A0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3445" r="54706"/>
            <a:stretch/>
          </p:blipFill>
          <p:spPr>
            <a:xfrm>
              <a:off x="2479237" y="1792517"/>
              <a:ext cx="1436643" cy="1255117"/>
            </a:xfrm>
            <a:prstGeom prst="rect">
              <a:avLst/>
            </a:prstGeom>
          </p:spPr>
        </p:pic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E0306B4-C3C2-490D-91C3-F0489C667AAE}"/>
                </a:ext>
              </a:extLst>
            </p:cNvPr>
            <p:cNvGrpSpPr/>
            <p:nvPr/>
          </p:nvGrpSpPr>
          <p:grpSpPr>
            <a:xfrm>
              <a:off x="2545928" y="1756673"/>
              <a:ext cx="3942138" cy="1278866"/>
              <a:chOff x="2545928" y="1756673"/>
              <a:chExt cx="3942138" cy="1278866"/>
            </a:xfrm>
          </p:grpSpPr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6036DAF7-2E40-4D5D-92D1-CBFAF94CB2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53723" t="9365"/>
              <a:stretch/>
            </p:blipFill>
            <p:spPr>
              <a:xfrm>
                <a:off x="4076821" y="1857382"/>
                <a:ext cx="1467854" cy="1178157"/>
              </a:xfrm>
              <a:prstGeom prst="rect">
                <a:avLst/>
              </a:prstGeom>
            </p:spPr>
          </p:pic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C6D4BF63-E8AE-4E8A-B1A5-5040DAAC2FEC}"/>
                  </a:ext>
                </a:extLst>
              </p:cNvPr>
              <p:cNvGrpSpPr/>
              <p:nvPr/>
            </p:nvGrpSpPr>
            <p:grpSpPr>
              <a:xfrm>
                <a:off x="2545928" y="1756673"/>
                <a:ext cx="3942138" cy="1188360"/>
                <a:chOff x="2545928" y="1756673"/>
                <a:chExt cx="3942138" cy="1188360"/>
              </a:xfrm>
            </p:grpSpPr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76C4891C-5B41-453A-94CA-61824D142E4A}"/>
                    </a:ext>
                  </a:extLst>
                </p:cNvPr>
                <p:cNvSpPr txBox="1"/>
                <p:nvPr/>
              </p:nvSpPr>
              <p:spPr>
                <a:xfrm>
                  <a:off x="5385561" y="2698812"/>
                  <a:ext cx="88357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False positive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73027C59-AAB9-4BF2-9DD9-F58F94DB0FF9}"/>
                    </a:ext>
                  </a:extLst>
                </p:cNvPr>
                <p:cNvSpPr txBox="1"/>
                <p:nvPr/>
              </p:nvSpPr>
              <p:spPr>
                <a:xfrm>
                  <a:off x="5001288" y="1756673"/>
                  <a:ext cx="94925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False negative </a:t>
                  </a:r>
                </a:p>
                <a:p>
                  <a:r>
                    <a:rPr lang="en-US" sz="1000" dirty="0"/>
                    <a:t>due to bias</a:t>
                  </a:r>
                </a:p>
              </p:txBody>
            </p: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E801DAD9-AC68-4C2A-BB30-76A923F19E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72666" y="2087346"/>
                  <a:ext cx="405974" cy="16061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2E8D933D-6FF7-4F7E-9438-2FEBA37E3766}"/>
                    </a:ext>
                  </a:extLst>
                </p:cNvPr>
                <p:cNvCxnSpPr>
                  <a:cxnSpLocks/>
                  <a:stCxn id="6" idx="1"/>
                </p:cNvCxnSpPr>
                <p:nvPr/>
              </p:nvCxnSpPr>
              <p:spPr>
                <a:xfrm flipH="1">
                  <a:off x="4956399" y="2821923"/>
                  <a:ext cx="429162" cy="28099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2453319-C384-4AA1-B71E-4B9207FA45C1}"/>
                    </a:ext>
                  </a:extLst>
                </p:cNvPr>
                <p:cNvSpPr txBox="1"/>
                <p:nvPr/>
              </p:nvSpPr>
              <p:spPr>
                <a:xfrm>
                  <a:off x="3507467" y="2538957"/>
                  <a:ext cx="93031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True negative</a:t>
                  </a:r>
                </a:p>
              </p:txBody>
            </p:sp>
            <p:cxnSp>
              <p:nvCxnSpPr>
                <p:cNvPr id="37" name="Straight Arrow Connector 36">
                  <a:extLst>
                    <a:ext uri="{FF2B5EF4-FFF2-40B4-BE49-F238E27FC236}">
                      <a16:creationId xmlns:a16="http://schemas.microsoft.com/office/drawing/2014/main" id="{BFB237F7-FC90-4F89-913C-FEE988E55C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72045" y="2773928"/>
                  <a:ext cx="450353" cy="47995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178B544-F37F-4690-934B-A68AC5034ACE}"/>
                    </a:ext>
                  </a:extLst>
                </p:cNvPr>
                <p:cNvSpPr txBox="1"/>
                <p:nvPr/>
              </p:nvSpPr>
              <p:spPr>
                <a:xfrm>
                  <a:off x="2710218" y="1911372"/>
                  <a:ext cx="104828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Positive example</a:t>
                  </a:r>
                </a:p>
              </p:txBody>
            </p: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1817EC68-58FE-44B0-B029-A970BA26E0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4734" y="2018945"/>
                  <a:ext cx="228353" cy="2138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B3AF9D9D-29CF-4A25-BC79-5D1FC94181E6}"/>
                    </a:ext>
                  </a:extLst>
                </p:cNvPr>
                <p:cNvSpPr txBox="1"/>
                <p:nvPr/>
              </p:nvSpPr>
              <p:spPr>
                <a:xfrm>
                  <a:off x="5527784" y="2092814"/>
                  <a:ext cx="94925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True positive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21B127FF-8F35-4604-9B47-5AACFE71AAAA}"/>
                    </a:ext>
                  </a:extLst>
                </p:cNvPr>
                <p:cNvCxnSpPr>
                  <a:cxnSpLocks/>
                  <a:stCxn id="56" idx="1"/>
                </p:cNvCxnSpPr>
                <p:nvPr/>
              </p:nvCxnSpPr>
              <p:spPr>
                <a:xfrm flipH="1">
                  <a:off x="5075653" y="2215925"/>
                  <a:ext cx="452131" cy="7342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FC10E35-C292-426B-A795-B6C57C9A81D3}"/>
                    </a:ext>
                  </a:extLst>
                </p:cNvPr>
                <p:cNvSpPr txBox="1"/>
                <p:nvPr/>
              </p:nvSpPr>
              <p:spPr>
                <a:xfrm>
                  <a:off x="3741408" y="2039787"/>
                  <a:ext cx="104828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False negative</a:t>
                  </a:r>
                </a:p>
              </p:txBody>
            </p: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214D9C94-F5A8-42FD-B7B1-4CCA126A2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05943" y="2177287"/>
                  <a:ext cx="127333" cy="10872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B4D3F48-6C0E-4D3B-BF23-C2E932732137}"/>
                    </a:ext>
                  </a:extLst>
                </p:cNvPr>
                <p:cNvSpPr txBox="1"/>
                <p:nvPr/>
              </p:nvSpPr>
              <p:spPr>
                <a:xfrm>
                  <a:off x="4989613" y="2497915"/>
                  <a:ext cx="1498453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True negative due to bias</a:t>
                  </a:r>
                </a:p>
              </p:txBody>
            </p:sp>
            <p:cxnSp>
              <p:nvCxnSpPr>
                <p:cNvPr id="61" name="Straight Arrow Connector 60">
                  <a:extLst>
                    <a:ext uri="{FF2B5EF4-FFF2-40B4-BE49-F238E27FC236}">
                      <a16:creationId xmlns:a16="http://schemas.microsoft.com/office/drawing/2014/main" id="{68C877DE-4751-466D-86F3-BCEDE64A94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72666" y="2648114"/>
                  <a:ext cx="202987" cy="52917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6F496D7-63FC-473E-86B2-601691853E9E}"/>
                    </a:ext>
                  </a:extLst>
                </p:cNvPr>
                <p:cNvSpPr txBox="1"/>
                <p:nvPr/>
              </p:nvSpPr>
              <p:spPr>
                <a:xfrm>
                  <a:off x="3770624" y="1850161"/>
                  <a:ext cx="1048286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Threshold (bias)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BB054DF-97B1-402B-BBCD-93C76E8A4B4E}"/>
                    </a:ext>
                  </a:extLst>
                </p:cNvPr>
                <p:cNvSpPr txBox="1"/>
                <p:nvPr/>
              </p:nvSpPr>
              <p:spPr>
                <a:xfrm>
                  <a:off x="2545928" y="2507858"/>
                  <a:ext cx="104828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/>
                    <a:t>Negative example</a:t>
                  </a:r>
                </a:p>
              </p:txBody>
            </p:sp>
          </p:grpSp>
        </p:grpSp>
      </p:grpSp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20C1AE0D-95D9-4E0F-BEBA-A63182E441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23" y="589973"/>
            <a:ext cx="914400" cy="607340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4275DCA-719F-4395-9633-3CA6B2B6859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74967"/>
            <a:ext cx="6858000" cy="23940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E164AF-1CD5-12E6-F7EC-3AF939F12BE7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3507" b="36910"/>
          <a:stretch/>
        </p:blipFill>
        <p:spPr>
          <a:xfrm>
            <a:off x="0" y="320744"/>
            <a:ext cx="6858000" cy="544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30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4B47D6-C557-4669-94AE-017D648CE7FA}"/>
              </a:ext>
            </a:extLst>
          </p:cNvPr>
          <p:cNvSpPr txBox="1"/>
          <p:nvPr/>
        </p:nvSpPr>
        <p:spPr>
          <a:xfrm>
            <a:off x="123567" y="169549"/>
            <a:ext cx="93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EE50982-9297-4234-A323-D12E91963E58}"/>
                  </a:ext>
                </a:extLst>
              </p:cNvPr>
              <p:cNvSpPr/>
              <p:nvPr/>
            </p:nvSpPr>
            <p:spPr>
              <a:xfrm>
                <a:off x="123567" y="647748"/>
                <a:ext cx="3037922" cy="28931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just" defTabSz="914400">
                  <a:defRPr/>
                </a:pPr>
                <a:r>
                  <a:rPr lang="en-US" sz="1400" dirty="0"/>
                  <a:t>Figure 4: Estimation of scorer’s internal parameters (A) the internal noise levels and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1400" dirty="0"/>
                  <a:t> and threshold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400" dirty="0"/>
                  <a:t> for experts (blue), the original 8 experts used as the reference standard (black), experienced non-experts (green), and novices (red). (B) Updated ROC curves based on internal parameter estimated, with the group average expert ROC curve in blue curve, experienced non-experts in green, and for novices in red. </a:t>
                </a:r>
              </a:p>
              <a:p>
                <a:pPr lvl="0" algn="just" defTabSz="914400">
                  <a:defRPr/>
                </a:pPr>
                <a:endParaRPr lang="en-US" sz="1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EE50982-9297-4234-A323-D12E91963E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67" y="647748"/>
                <a:ext cx="3037922" cy="2893100"/>
              </a:xfrm>
              <a:prstGeom prst="rect">
                <a:avLst/>
              </a:prstGeom>
              <a:blipFill>
                <a:blip r:embed="rId3"/>
                <a:stretch>
                  <a:fillRect l="-601" t="-211" r="-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12808564-092E-42D3-94E2-A859725F4B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090" y="0"/>
            <a:ext cx="3504910" cy="711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47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59B2D02-2D8B-7BF9-DBAA-C0B84AC269C8}"/>
              </a:ext>
            </a:extLst>
          </p:cNvPr>
          <p:cNvSpPr/>
          <p:nvPr/>
        </p:nvSpPr>
        <p:spPr>
          <a:xfrm>
            <a:off x="863819" y="2858865"/>
            <a:ext cx="1558850" cy="740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F733A5-3E78-C8B2-3BE9-05DBF6BF7897}"/>
              </a:ext>
            </a:extLst>
          </p:cNvPr>
          <p:cNvSpPr txBox="1"/>
          <p:nvPr/>
        </p:nvSpPr>
        <p:spPr>
          <a:xfrm>
            <a:off x="5217768" y="5213099"/>
            <a:ext cx="1400175" cy="533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Differences</a:t>
            </a:r>
          </a:p>
          <a:p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between diagnoses</a:t>
            </a:r>
          </a:p>
          <a:p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on occasions 1 and 2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586232AC-24B5-9D60-E97C-DF34E3D8E5A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60761" y="4978617"/>
            <a:ext cx="1030620" cy="170887"/>
          </a:xfrm>
          <a:prstGeom prst="bentConnector3">
            <a:avLst>
              <a:gd name="adj1" fmla="val -421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4AAB0FF-CC80-A951-C61B-0CFE2613F1B0}"/>
              </a:ext>
            </a:extLst>
          </p:cNvPr>
          <p:cNvSpPr txBox="1"/>
          <p:nvPr/>
        </p:nvSpPr>
        <p:spPr>
          <a:xfrm>
            <a:off x="5213352" y="3070841"/>
            <a:ext cx="1447832" cy="239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Diagnoses: Occasion 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FB8C41A-DBF0-37E2-2C1F-B59822370294}"/>
              </a:ext>
            </a:extLst>
          </p:cNvPr>
          <p:cNvCxnSpPr>
            <a:cxnSpLocks/>
          </p:cNvCxnSpPr>
          <p:nvPr/>
        </p:nvCxnSpPr>
        <p:spPr>
          <a:xfrm>
            <a:off x="5181059" y="4786780"/>
            <a:ext cx="142468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93C8C90-AA0F-C29E-9856-AFF80DF20236}"/>
              </a:ext>
            </a:extLst>
          </p:cNvPr>
          <p:cNvGrpSpPr/>
          <p:nvPr/>
        </p:nvGrpSpPr>
        <p:grpSpPr>
          <a:xfrm>
            <a:off x="2688859" y="5078246"/>
            <a:ext cx="2013640" cy="721886"/>
            <a:chOff x="-115873" y="726594"/>
            <a:chExt cx="4490182" cy="1513687"/>
          </a:xfrm>
        </p:grpSpPr>
        <p:pic>
          <p:nvPicPr>
            <p:cNvPr id="5" name="Graphic 4" descr="Postit Notes 3 with solid fill">
              <a:extLst>
                <a:ext uri="{FF2B5EF4-FFF2-40B4-BE49-F238E27FC236}">
                  <a16:creationId xmlns:a16="http://schemas.microsoft.com/office/drawing/2014/main" id="{8DB6C549-CA15-5607-3533-B57F27EB9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115377" y="1325881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7DA4122-2A1F-D229-440D-DCD2E727E074}"/>
                </a:ext>
              </a:extLst>
            </p:cNvPr>
            <p:cNvSpPr txBox="1"/>
            <p:nvPr/>
          </p:nvSpPr>
          <p:spPr>
            <a:xfrm>
              <a:off x="-115873" y="956549"/>
              <a:ext cx="1509158" cy="5020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56" dirty="0">
                  <a:latin typeface="Arial" panose="020B0604020202020204" pitchFamily="34" charset="0"/>
                  <a:cs typeface="Arial" panose="020B0604020202020204" pitchFamily="34" charset="0"/>
                </a:rPr>
                <a:t>50 cases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9CAAFC3-E81D-D8AB-24DA-8185290DC4A5}"/>
                </a:ext>
              </a:extLst>
            </p:cNvPr>
            <p:cNvSpPr txBox="1"/>
            <p:nvPr/>
          </p:nvSpPr>
          <p:spPr>
            <a:xfrm>
              <a:off x="1907182" y="726594"/>
              <a:ext cx="2467127" cy="8104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56" dirty="0">
                  <a:latin typeface="Arial" panose="020B0604020202020204" pitchFamily="34" charset="0"/>
                  <a:cs typeface="Arial" panose="020B0604020202020204" pitchFamily="34" charset="0"/>
                </a:rPr>
                <a:t>Case differences</a:t>
              </a:r>
            </a:p>
            <a:p>
              <a:pPr algn="ctr"/>
              <a:r>
                <a:rPr lang="en-US" sz="956" dirty="0">
                  <a:latin typeface="Arial" panose="020B0604020202020204" pitchFamily="34" charset="0"/>
                  <a:cs typeface="Arial" panose="020B0604020202020204" pitchFamily="34" charset="0"/>
                </a:rPr>
                <a:t>(signal)</a:t>
              </a:r>
            </a:p>
          </p:txBody>
        </p: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FD5B5319-7002-211E-BC77-A458DCFC95A8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799024" y="1777375"/>
              <a:ext cx="489280" cy="5706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0601039-E1DB-8C0E-BF4C-9D3FDD49B6F5}"/>
              </a:ext>
            </a:extLst>
          </p:cNvPr>
          <p:cNvCxnSpPr>
            <a:cxnSpLocks/>
          </p:cNvCxnSpPr>
          <p:nvPr/>
        </p:nvCxnSpPr>
        <p:spPr>
          <a:xfrm>
            <a:off x="4702492" y="3370518"/>
            <a:ext cx="1730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Plus 82">
            <a:extLst>
              <a:ext uri="{FF2B5EF4-FFF2-40B4-BE49-F238E27FC236}">
                <a16:creationId xmlns:a16="http://schemas.microsoft.com/office/drawing/2014/main" id="{E4575129-C765-A367-C714-63F8CF508F56}"/>
              </a:ext>
            </a:extLst>
          </p:cNvPr>
          <p:cNvSpPr>
            <a:spLocks noChangeAspect="1"/>
          </p:cNvSpPr>
          <p:nvPr/>
        </p:nvSpPr>
        <p:spPr>
          <a:xfrm>
            <a:off x="4878704" y="3312546"/>
            <a:ext cx="112514" cy="112514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Plus 84">
            <a:extLst>
              <a:ext uri="{FF2B5EF4-FFF2-40B4-BE49-F238E27FC236}">
                <a16:creationId xmlns:a16="http://schemas.microsoft.com/office/drawing/2014/main" id="{2B66A61E-798D-9EE1-C2E3-C775210A52F6}"/>
              </a:ext>
            </a:extLst>
          </p:cNvPr>
          <p:cNvSpPr>
            <a:spLocks noChangeAspect="1"/>
          </p:cNvSpPr>
          <p:nvPr/>
        </p:nvSpPr>
        <p:spPr>
          <a:xfrm>
            <a:off x="4882048" y="4400009"/>
            <a:ext cx="112514" cy="112514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9D98657C-F642-03A8-2316-46CEC066861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11022" y="4404981"/>
            <a:ext cx="2106644" cy="184778"/>
          </a:xfrm>
          <a:prstGeom prst="bentConnector3">
            <a:avLst>
              <a:gd name="adj1" fmla="val 65858"/>
            </a:avLst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D78C6BD-7F68-34D4-2CC5-343DD72AB383}"/>
              </a:ext>
            </a:extLst>
          </p:cNvPr>
          <p:cNvSpPr/>
          <p:nvPr/>
        </p:nvSpPr>
        <p:spPr>
          <a:xfrm>
            <a:off x="4763838" y="4391767"/>
            <a:ext cx="101568" cy="1361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56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grey and black color scheme&#10;&#10;Description automatically generated with medium confidence">
            <a:extLst>
              <a:ext uri="{FF2B5EF4-FFF2-40B4-BE49-F238E27FC236}">
                <a16:creationId xmlns:a16="http://schemas.microsoft.com/office/drawing/2014/main" id="{F8DCDAAD-35CC-C26A-B772-F3869C26F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0808" y="5466855"/>
            <a:ext cx="1340168" cy="225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 descr="A grey and black pixelated background&#10;&#10;Description automatically generated">
            <a:extLst>
              <a:ext uri="{FF2B5EF4-FFF2-40B4-BE49-F238E27FC236}">
                <a16:creationId xmlns:a16="http://schemas.microsoft.com/office/drawing/2014/main" id="{84BC9F74-76D4-9F48-A7E5-7EF85262A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312" y="3269998"/>
            <a:ext cx="1400175" cy="225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 descr="A grey and black rectangles&#10;&#10;Description automatically generated">
            <a:extLst>
              <a:ext uri="{FF2B5EF4-FFF2-40B4-BE49-F238E27FC236}">
                <a16:creationId xmlns:a16="http://schemas.microsoft.com/office/drawing/2014/main" id="{0D4B646F-F698-EA9B-DF5F-0E40FEC6A0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3312" y="4347350"/>
            <a:ext cx="1400175" cy="2250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 descr="A black and white rectangular object with white squares&#10;&#10;Description automatically generated">
            <a:extLst>
              <a:ext uri="{FF2B5EF4-FFF2-40B4-BE49-F238E27FC236}">
                <a16:creationId xmlns:a16="http://schemas.microsoft.com/office/drawing/2014/main" id="{E08F3A9D-D603-493E-26B1-3B66F94A01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3312" y="4932712"/>
            <a:ext cx="1400175" cy="22502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AC4C544E-24F3-56DC-9AD6-F45406C74442}"/>
              </a:ext>
            </a:extLst>
          </p:cNvPr>
          <p:cNvGrpSpPr/>
          <p:nvPr/>
        </p:nvGrpSpPr>
        <p:grpSpPr>
          <a:xfrm>
            <a:off x="1504732" y="2958312"/>
            <a:ext cx="3166665" cy="2707940"/>
            <a:chOff x="2675079" y="560221"/>
            <a:chExt cx="5629626" cy="481411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A77FF3A-31C2-5E8C-4A02-2F207699EFD3}"/>
                </a:ext>
              </a:extLst>
            </p:cNvPr>
            <p:cNvGrpSpPr/>
            <p:nvPr/>
          </p:nvGrpSpPr>
          <p:grpSpPr>
            <a:xfrm>
              <a:off x="2675079" y="560221"/>
              <a:ext cx="5629626" cy="4814115"/>
              <a:chOff x="2675079" y="560221"/>
              <a:chExt cx="5629626" cy="481411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0164EAB-1EFA-9F93-C8B3-A13D280E100C}"/>
                  </a:ext>
                </a:extLst>
              </p:cNvPr>
              <p:cNvGrpSpPr/>
              <p:nvPr/>
            </p:nvGrpSpPr>
            <p:grpSpPr>
              <a:xfrm>
                <a:off x="2675079" y="560221"/>
                <a:ext cx="5629626" cy="4814115"/>
                <a:chOff x="33486" y="560221"/>
                <a:chExt cx="5629626" cy="4814115"/>
              </a:xfrm>
            </p:grpSpPr>
            <p:pic>
              <p:nvPicPr>
                <p:cNvPr id="95" name="Graphic 94" descr="Group with solid fill">
                  <a:extLst>
                    <a:ext uri="{FF2B5EF4-FFF2-40B4-BE49-F238E27FC236}">
                      <a16:creationId xmlns:a16="http://schemas.microsoft.com/office/drawing/2014/main" id="{9A042F0D-0945-9E32-A241-8FCF08EAFA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7956" y="4387727"/>
                  <a:ext cx="682993" cy="834209"/>
                </a:xfrm>
                <a:prstGeom prst="rect">
                  <a:avLst/>
                </a:prstGeom>
              </p:spPr>
            </p:pic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25BED078-4BC3-1E9E-26C5-ED69FDE3B06C}"/>
                    </a:ext>
                  </a:extLst>
                </p:cNvPr>
                <p:cNvGrpSpPr/>
                <p:nvPr/>
              </p:nvGrpSpPr>
              <p:grpSpPr>
                <a:xfrm>
                  <a:off x="33486" y="560221"/>
                  <a:ext cx="5629626" cy="4814115"/>
                  <a:chOff x="33486" y="560221"/>
                  <a:chExt cx="5629626" cy="4814115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BB48A6E3-EAC5-ED05-17AE-33D9C60DD93A}"/>
                      </a:ext>
                    </a:extLst>
                  </p:cNvPr>
                  <p:cNvGrpSpPr/>
                  <p:nvPr/>
                </p:nvGrpSpPr>
                <p:grpSpPr>
                  <a:xfrm>
                    <a:off x="33486" y="560221"/>
                    <a:ext cx="5629626" cy="4814115"/>
                    <a:chOff x="33486" y="560221"/>
                    <a:chExt cx="5629626" cy="4814115"/>
                  </a:xfrm>
                </p:grpSpPr>
                <p:sp>
                  <p:nvSpPr>
                    <p:cNvPr id="35" name="Rectangle 34">
                      <a:extLst>
                        <a:ext uri="{FF2B5EF4-FFF2-40B4-BE49-F238E27FC236}">
                          <a16:creationId xmlns:a16="http://schemas.microsoft.com/office/drawing/2014/main" id="{E5CBEF8C-A7FE-0F91-FC3D-13815E65EA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486" y="560221"/>
                      <a:ext cx="5629626" cy="2993514"/>
                    </a:xfrm>
                    <a:prstGeom prst="rect">
                      <a:avLst/>
                    </a:prstGeom>
                    <a:solidFill>
                      <a:srgbClr val="F2F2F2">
                        <a:alpha val="52157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956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D3401E6E-8DF8-0210-C061-62CFF243E2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5367" y="4070265"/>
                      <a:ext cx="1653445" cy="42564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956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 physicians</a:t>
                      </a:r>
                    </a:p>
                  </p:txBody>
                </p:sp>
                <p:cxnSp>
                  <p:nvCxnSpPr>
                    <p:cNvPr id="91" name="Straight Arrow Connector 90">
                      <a:extLst>
                        <a:ext uri="{FF2B5EF4-FFF2-40B4-BE49-F238E27FC236}">
                          <a16:creationId xmlns:a16="http://schemas.microsoft.com/office/drawing/2014/main" id="{E501B6EA-85F4-6806-39FB-04C3CF26952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239221" y="3348368"/>
                      <a:ext cx="0" cy="721897"/>
                    </a:xfrm>
                    <a:prstGeom prst="straightConnector1">
                      <a:avLst/>
                    </a:prstGeom>
                    <a:ln w="28575">
                      <a:solidFill>
                        <a:schemeClr val="tx1"/>
                      </a:solidFill>
                      <a:headEnd type="none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101" name="Graphic 100" descr="Group with solid fill">
                      <a:extLst>
                        <a:ext uri="{FF2B5EF4-FFF2-40B4-BE49-F238E27FC236}">
                          <a16:creationId xmlns:a16="http://schemas.microsoft.com/office/drawing/2014/main" id="{2AD8FA7D-ACE2-E962-3380-243E2DAA479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9">
                      <a:extLst>
                        <a:ext uri="{96DAC541-7B7A-43D3-8B79-37D633B846F1}">
                          <asvg:svgBlip xmlns:asvg="http://schemas.microsoft.com/office/drawing/2016/SVG/main" r:embed="rId1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92276" y="4540127"/>
                      <a:ext cx="682993" cy="834209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102" name="Straight Arrow Connector 101">
                    <a:extLst>
                      <a:ext uri="{FF2B5EF4-FFF2-40B4-BE49-F238E27FC236}">
                        <a16:creationId xmlns:a16="http://schemas.microsoft.com/office/drawing/2014/main" id="{0C6C5DEB-46A4-837F-F754-453F288AFC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93224" y="1635924"/>
                    <a:ext cx="493758" cy="381177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Arrow Connector 105">
                    <a:extLst>
                      <a:ext uri="{FF2B5EF4-FFF2-40B4-BE49-F238E27FC236}">
                        <a16:creationId xmlns:a16="http://schemas.microsoft.com/office/drawing/2014/main" id="{52A34446-F71C-1FB0-D0B2-C395BCEC6E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98928" y="2652422"/>
                    <a:ext cx="488054" cy="29999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9" name="TextBox 108">
                    <a:extLst>
                      <a:ext uri="{FF2B5EF4-FFF2-40B4-BE49-F238E27FC236}">
                        <a16:creationId xmlns:a16="http://schemas.microsoft.com/office/drawing/2014/main" id="{90E4DACD-08FC-2AFA-22C4-33E2369FFEC3}"/>
                      </a:ext>
                    </a:extLst>
                  </p:cNvPr>
                  <p:cNvSpPr txBox="1"/>
                  <p:nvPr/>
                </p:nvSpPr>
                <p:spPr>
                  <a:xfrm>
                    <a:off x="2691112" y="1396415"/>
                    <a:ext cx="456537" cy="4256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956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+</a:t>
                    </a:r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85D8B252-9AED-4567-0116-283E62DCB023}"/>
                      </a:ext>
                    </a:extLst>
                  </p:cNvPr>
                  <p:cNvSpPr txBox="1"/>
                  <p:nvPr/>
                </p:nvSpPr>
                <p:spPr>
                  <a:xfrm>
                    <a:off x="2672734" y="2608107"/>
                    <a:ext cx="456537" cy="4256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956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+</a:t>
                    </a:r>
                  </a:p>
                </p:txBody>
              </p:sp>
              <p:pic>
                <p:nvPicPr>
                  <p:cNvPr id="6" name="Picture 5" descr="A grey and white gradient&#10;&#10;Description automatically generated">
                    <a:extLst>
                      <a:ext uri="{FF2B5EF4-FFF2-40B4-BE49-F238E27FC236}">
                        <a16:creationId xmlns:a16="http://schemas.microsoft.com/office/drawing/2014/main" id="{0A95BFDA-1693-78A9-9E03-3D9A0769D9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9856" y="1756139"/>
                    <a:ext cx="2489200" cy="382270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pic>
                <p:nvPicPr>
                  <p:cNvPr id="8" name="Picture 7" descr="A grey rectangular pattern with black squares&#10;&#10;Description automatically generated">
                    <a:extLst>
                      <a:ext uri="{FF2B5EF4-FFF2-40B4-BE49-F238E27FC236}">
                        <a16:creationId xmlns:a16="http://schemas.microsoft.com/office/drawing/2014/main" id="{B14EE3E9-B06E-C823-752B-27A9B1190B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18150" y="2428430"/>
                    <a:ext cx="2489200" cy="400050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pic>
                <p:nvPicPr>
                  <p:cNvPr id="12" name="Picture 11" descr="A grey and black squares&#10;&#10;Description automatically generated">
                    <a:extLst>
                      <a:ext uri="{FF2B5EF4-FFF2-40B4-BE49-F238E27FC236}">
                        <a16:creationId xmlns:a16="http://schemas.microsoft.com/office/drawing/2014/main" id="{CD11E585-538E-3AEE-3271-681D492005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3126150" y="1153114"/>
                    <a:ext cx="2489200" cy="400050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pic>
                <p:nvPicPr>
                  <p:cNvPr id="15" name="Picture 14">
                    <a:extLst>
                      <a:ext uri="{FF2B5EF4-FFF2-40B4-BE49-F238E27FC236}">
                        <a16:creationId xmlns:a16="http://schemas.microsoft.com/office/drawing/2014/main" id="{4DDD2FE2-DF42-E8FE-7214-FCE806AD66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3104202" y="3028950"/>
                    <a:ext cx="2489200" cy="40005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113" name="Right Bracket 112">
                <a:extLst>
                  <a:ext uri="{FF2B5EF4-FFF2-40B4-BE49-F238E27FC236}">
                    <a16:creationId xmlns:a16="http://schemas.microsoft.com/office/drawing/2014/main" id="{C7A200BC-7892-E46A-0376-AEB8D6DEE8E2}"/>
                  </a:ext>
                </a:extLst>
              </p:cNvPr>
              <p:cNvSpPr/>
              <p:nvPr/>
            </p:nvSpPr>
            <p:spPr>
              <a:xfrm>
                <a:off x="5221030" y="1710035"/>
                <a:ext cx="123567" cy="1205139"/>
              </a:xfrm>
              <a:prstGeom prst="rightBracke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56">
                  <a:ln w="19050">
                    <a:solidFill>
                      <a:sysClr val="windowText" lastClr="000000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92D416F-170E-250C-E67D-AE743F907A45}"/>
                </a:ext>
              </a:extLst>
            </p:cNvPr>
            <p:cNvGrpSpPr/>
            <p:nvPr/>
          </p:nvGrpSpPr>
          <p:grpSpPr>
            <a:xfrm>
              <a:off x="3156596" y="1423751"/>
              <a:ext cx="1616398" cy="1951533"/>
              <a:chOff x="506122" y="1423751"/>
              <a:chExt cx="1616398" cy="1951533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8273AF-F779-6F1A-B0D1-FC15A941E81D}"/>
                  </a:ext>
                </a:extLst>
              </p:cNvPr>
              <p:cNvSpPr txBox="1"/>
              <p:nvPr/>
            </p:nvSpPr>
            <p:spPr>
              <a:xfrm>
                <a:off x="542419" y="1423751"/>
                <a:ext cx="1436862" cy="4256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56" dirty="0">
                    <a:latin typeface="Arial" panose="020B0604020202020204" pitchFamily="34" charset="0"/>
                    <a:cs typeface="Arial" panose="020B0604020202020204" pitchFamily="34" charset="0"/>
                  </a:rPr>
                  <a:t>Level noise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0649A6-D3EE-3F57-E116-22DEFCCF562D}"/>
                  </a:ext>
                </a:extLst>
              </p:cNvPr>
              <p:cNvSpPr txBox="1"/>
              <p:nvPr/>
            </p:nvSpPr>
            <p:spPr>
              <a:xfrm>
                <a:off x="506122" y="2949640"/>
                <a:ext cx="1616398" cy="4256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956" dirty="0">
                    <a:latin typeface="Arial" panose="020B0604020202020204" pitchFamily="34" charset="0"/>
                    <a:cs typeface="Arial" panose="020B0604020202020204" pitchFamily="34" charset="0"/>
                  </a:rPr>
                  <a:t>Pattern noise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E33055-1F66-63E7-A0FA-E4A302E6A65B}"/>
                  </a:ext>
                </a:extLst>
              </p:cNvPr>
              <p:cNvSpPr txBox="1"/>
              <p:nvPr/>
            </p:nvSpPr>
            <p:spPr>
              <a:xfrm>
                <a:off x="1103749" y="2101835"/>
                <a:ext cx="456537" cy="4256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56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19EDB15-FEF1-2801-15D1-80B22914E35B}"/>
              </a:ext>
            </a:extLst>
          </p:cNvPr>
          <p:cNvSpPr txBox="1"/>
          <p:nvPr/>
        </p:nvSpPr>
        <p:spPr>
          <a:xfrm>
            <a:off x="3385022" y="4018356"/>
            <a:ext cx="1091967" cy="3865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Occasion noise: </a:t>
            </a:r>
          </a:p>
          <a:p>
            <a:pPr algn="ctr"/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Occasion 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7D7BCE-F41C-23BC-643B-DB7B7677305A}"/>
              </a:ext>
            </a:extLst>
          </p:cNvPr>
          <p:cNvSpPr txBox="1"/>
          <p:nvPr/>
        </p:nvSpPr>
        <p:spPr>
          <a:xfrm>
            <a:off x="3385319" y="2943330"/>
            <a:ext cx="1091967" cy="3865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Occasion noise: </a:t>
            </a:r>
          </a:p>
          <a:p>
            <a:pPr algn="ctr"/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Occasion 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577ABD-6FD8-96A4-14B1-EA41110C48B8}"/>
              </a:ext>
            </a:extLst>
          </p:cNvPr>
          <p:cNvSpPr txBox="1"/>
          <p:nvPr/>
        </p:nvSpPr>
        <p:spPr>
          <a:xfrm>
            <a:off x="2654573" y="2776399"/>
            <a:ext cx="941284" cy="239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System Noise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1E32EA-D1A6-6545-FE3C-04A66E67579D}"/>
              </a:ext>
            </a:extLst>
          </p:cNvPr>
          <p:cNvSpPr txBox="1"/>
          <p:nvPr/>
        </p:nvSpPr>
        <p:spPr>
          <a:xfrm>
            <a:off x="5213352" y="4150976"/>
            <a:ext cx="1447832" cy="2394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56" dirty="0">
                <a:latin typeface="Arial" panose="020B0604020202020204" pitchFamily="34" charset="0"/>
                <a:cs typeface="Arial" panose="020B0604020202020204" pitchFamily="34" charset="0"/>
              </a:rPr>
              <a:t>Diagnoses: Occasion 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4B9662C-ECAA-2D95-B32C-D71092E608AB}"/>
              </a:ext>
            </a:extLst>
          </p:cNvPr>
          <p:cNvSpPr txBox="1"/>
          <p:nvPr/>
        </p:nvSpPr>
        <p:spPr>
          <a:xfrm>
            <a:off x="124880" y="632625"/>
            <a:ext cx="1518364" cy="11834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b="1" dirty="0">
                <a:latin typeface="Arial" panose="020B0604020202020204" pitchFamily="34" charset="0"/>
                <a:cs typeface="Arial" panose="020B0604020202020204" pitchFamily="34" charset="0"/>
              </a:rPr>
              <a:t>Figure 2</a:t>
            </a:r>
          </a:p>
          <a:p>
            <a:endParaRPr lang="en-US" sz="1013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13" b="1" dirty="0">
                <a:latin typeface="Arial" panose="020B0604020202020204" pitchFamily="34" charset="0"/>
                <a:cs typeface="Arial" panose="020B0604020202020204" pitchFamily="34" charset="0"/>
              </a:rPr>
              <a:t>Swap in </a:t>
            </a:r>
          </a:p>
          <a:p>
            <a:r>
              <a:rPr lang="en-US" sz="1013" b="1" dirty="0"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r>
              <a:rPr lang="en-US" sz="1013" b="1" dirty="0">
                <a:latin typeface="Arial" panose="020B0604020202020204" pitchFamily="34" charset="0"/>
                <a:cs typeface="Arial" panose="020B0604020202020204" pitchFamily="34" charset="0"/>
              </a:rPr>
              <a:t>(black and white)</a:t>
            </a:r>
          </a:p>
          <a:p>
            <a:endParaRPr lang="en-US" sz="1013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13" b="1" dirty="0">
                <a:latin typeface="Arial" panose="020B0604020202020204" pitchFamily="34" charset="0"/>
                <a:cs typeface="Arial" panose="020B0604020202020204" pitchFamily="34" charset="0"/>
              </a:rPr>
              <a:t>Make this  blue + red)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0A5B83A-543E-BB09-062C-B016B6B0DCCA}"/>
              </a:ext>
            </a:extLst>
          </p:cNvPr>
          <p:cNvCxnSpPr>
            <a:cxnSpLocks/>
          </p:cNvCxnSpPr>
          <p:nvPr/>
        </p:nvCxnSpPr>
        <p:spPr>
          <a:xfrm>
            <a:off x="5008068" y="3369745"/>
            <a:ext cx="1730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9076BFB-85E5-914C-E56D-7D0EAF6B1A3F}"/>
              </a:ext>
            </a:extLst>
          </p:cNvPr>
          <p:cNvCxnSpPr>
            <a:cxnSpLocks/>
          </p:cNvCxnSpPr>
          <p:nvPr/>
        </p:nvCxnSpPr>
        <p:spPr>
          <a:xfrm>
            <a:off x="4701718" y="4455889"/>
            <a:ext cx="1730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48E16A-20C0-0DDB-62AF-9CB8387EA372}"/>
              </a:ext>
            </a:extLst>
          </p:cNvPr>
          <p:cNvCxnSpPr>
            <a:cxnSpLocks/>
          </p:cNvCxnSpPr>
          <p:nvPr/>
        </p:nvCxnSpPr>
        <p:spPr>
          <a:xfrm>
            <a:off x="5007294" y="4455116"/>
            <a:ext cx="173098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833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E04B-DE2C-0AFF-AC81-A11FE9DE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358F8-5CC7-BAD3-6DDF-676D0FD15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70038E-1559-D095-1BC8-782D19303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5946"/>
            <a:ext cx="6858000" cy="413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86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670F6E-E07D-3B7F-F583-133EAB99B3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348"/>
          <a:stretch/>
        </p:blipFill>
        <p:spPr>
          <a:xfrm>
            <a:off x="3513030" y="2846986"/>
            <a:ext cx="1170905" cy="36538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27CBE5-4A96-F845-78D1-58F8D7C8FA1D}"/>
              </a:ext>
            </a:extLst>
          </p:cNvPr>
          <p:cNvSpPr txBox="1"/>
          <p:nvPr/>
        </p:nvSpPr>
        <p:spPr>
          <a:xfrm>
            <a:off x="228854" y="2846986"/>
            <a:ext cx="780983" cy="248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13" b="1" dirty="0">
                <a:latin typeface="Arial" panose="020B0604020202020204" pitchFamily="34" charset="0"/>
                <a:cs typeface="Arial" panose="020B0604020202020204" pitchFamily="34" charset="0"/>
              </a:rPr>
              <a:t>Figure S1</a:t>
            </a:r>
          </a:p>
        </p:txBody>
      </p:sp>
    </p:spTree>
    <p:extLst>
      <p:ext uri="{BB962C8B-B14F-4D97-AF65-F5344CB8AC3E}">
        <p14:creationId xmlns:p14="http://schemas.microsoft.com/office/powerpoint/2010/main" val="2470238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5548</TotalTime>
  <Words>411</Words>
  <Application>Microsoft Macintosh PowerPoint</Application>
  <PresentationFormat>On-screen Show (4:3)</PresentationFormat>
  <Paragraphs>66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Westover, M. Brandon,M.D.,Ph.D.</dc:creator>
  <cp:lastModifiedBy>Westover, M Brandon (HMFP - Neurology)</cp:lastModifiedBy>
  <cp:revision>155</cp:revision>
  <dcterms:created xsi:type="dcterms:W3CDTF">2020-12-19T16:34:29Z</dcterms:created>
  <dcterms:modified xsi:type="dcterms:W3CDTF">2026-01-06T06:00:12Z</dcterms:modified>
</cp:coreProperties>
</file>